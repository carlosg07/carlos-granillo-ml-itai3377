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0" r:id="rId5"/>
    <p:sldId id="259" r:id="rId6"/>
    <p:sldId id="271" r:id="rId7"/>
    <p:sldId id="261" r:id="rId8"/>
    <p:sldId id="262" r:id="rId9"/>
    <p:sldId id="263" r:id="rId10"/>
    <p:sldId id="264" r:id="rId11"/>
    <p:sldId id="265" r:id="rId12"/>
    <p:sldId id="266" r:id="rId13"/>
    <p:sldId id="267" r:id="rId14"/>
    <p:sldId id="269" r:id="rId15"/>
    <p:sldId id="26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Multicolored circuit board">
            <a:extLst>
              <a:ext uri="{FF2B5EF4-FFF2-40B4-BE49-F238E27FC236}">
                <a16:creationId xmlns:a16="http://schemas.microsoft.com/office/drawing/2014/main" id="{FA39824A-6B30-C547-FD84-1A752A634739}"/>
              </a:ext>
            </a:extLst>
          </p:cNvPr>
          <p:cNvPicPr>
            <a:picLocks noChangeAspect="1"/>
          </p:cNvPicPr>
          <p:nvPr/>
        </p:nvPicPr>
        <p:blipFill>
          <a:blip r:embed="rId2"/>
          <a:srcRect l="19127" r="3099" b="1"/>
          <a:stretch>
            <a:fillRect/>
          </a:stretch>
        </p:blipFill>
        <p:spPr>
          <a:xfrm>
            <a:off x="-2585" y="-1"/>
            <a:ext cx="9146585" cy="6879745"/>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064451" y="791834"/>
            <a:ext cx="3020876" cy="9154947"/>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4" y="0"/>
            <a:ext cx="2132551"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779028" y="21736"/>
            <a:ext cx="2364646"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5" y="5288433"/>
            <a:ext cx="9149779"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5100" y="2905286"/>
            <a:ext cx="3866773" cy="4082144"/>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44271" y="4121944"/>
            <a:ext cx="5945838" cy="1620665"/>
          </a:xfrm>
        </p:spPr>
        <p:txBody>
          <a:bodyPr>
            <a:normAutofit/>
          </a:bodyPr>
          <a:lstStyle/>
          <a:p>
            <a:pPr algn="l"/>
            <a:r>
              <a:rPr lang="en-US" sz="3500">
                <a:solidFill>
                  <a:srgbClr val="FFFFFF"/>
                </a:solidFill>
              </a:rPr>
              <a:t>Cybersecurity Plan for AI-Integrated IIoT System</a:t>
            </a:r>
          </a:p>
        </p:txBody>
      </p:sp>
      <p:sp>
        <p:nvSpPr>
          <p:cNvPr id="3" name="Subtitle 2"/>
          <p:cNvSpPr>
            <a:spLocks noGrp="1"/>
          </p:cNvSpPr>
          <p:nvPr>
            <p:ph type="subTitle" idx="1"/>
          </p:nvPr>
        </p:nvSpPr>
        <p:spPr>
          <a:xfrm>
            <a:off x="644271" y="5737867"/>
            <a:ext cx="5956785" cy="618479"/>
          </a:xfrm>
        </p:spPr>
        <p:txBody>
          <a:bodyPr>
            <a:normAutofit/>
          </a:bodyPr>
          <a:lstStyle/>
          <a:p>
            <a:pPr algn="l"/>
            <a:r>
              <a:rPr lang="en-US" sz="1700">
                <a:solidFill>
                  <a:srgbClr val="FFFFFF"/>
                </a:solidFill>
              </a:rPr>
              <a:t>Carlos Granillo | ITAI 3377 Midterm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a:solidFill>
                  <a:srgbClr val="FFFFFF"/>
                </a:solidFill>
              </a:rPr>
              <a:t>Smart Factory Overview</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r>
              <a:t>AI-driven industrial automation system</a:t>
            </a:r>
          </a:p>
          <a:p>
            <a:r>
              <a:t>Real-time monitoring of machinery health</a:t>
            </a:r>
          </a:p>
          <a:p>
            <a:r>
              <a:t>Uses IIoT sensors + edge computing + cloud AI</a:t>
            </a:r>
          </a:p>
          <a:p>
            <a:r>
              <a:t>Goal: Predict failures and reduce downtime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54"/>
            <a:ext cx="9144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idx="4294967295"/>
          </p:nvPr>
        </p:nvSpPr>
        <p:spPr>
          <a:xfrm>
            <a:off x="3429000" y="601744"/>
            <a:ext cx="5086350" cy="1338696"/>
          </a:xfrm>
        </p:spPr>
        <p:txBody>
          <a:bodyPr vert="horz" lIns="91440" tIns="45720" rIns="91440" bIns="45720" rtlCol="0" anchor="ctr">
            <a:normAutofit/>
          </a:bodyPr>
          <a:lstStyle/>
          <a:p>
            <a:pPr algn="l" defTabSz="914400">
              <a:lnSpc>
                <a:spcPct val="90000"/>
              </a:lnSpc>
            </a:pPr>
            <a:r>
              <a:rPr lang="en-US"/>
              <a:t>System Architecture</a:t>
            </a:r>
          </a:p>
        </p:txBody>
      </p:sp>
      <p:pic>
        <p:nvPicPr>
          <p:cNvPr id="17" name="Picture 16">
            <a:extLst>
              <a:ext uri="{FF2B5EF4-FFF2-40B4-BE49-F238E27FC236}">
                <a16:creationId xmlns:a16="http://schemas.microsoft.com/office/drawing/2014/main" id="{264C9253-D586-BD8D-9069-80F7F79C6C88}"/>
              </a:ext>
            </a:extLst>
          </p:cNvPr>
          <p:cNvPicPr>
            <a:picLocks noChangeAspect="1"/>
          </p:cNvPicPr>
          <p:nvPr/>
        </p:nvPicPr>
        <p:blipFill>
          <a:blip r:embed="rId2"/>
          <a:srcRect l="21886" r="55016"/>
          <a:stretch>
            <a:fillRect/>
          </a:stretch>
        </p:blipFill>
        <p:spPr>
          <a:xfrm>
            <a:off x="20" y="10"/>
            <a:ext cx="281604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p:cNvSpPr>
            <a:spLocks noGrp="1"/>
          </p:cNvSpPr>
          <p:nvPr>
            <p:ph idx="4294967295"/>
          </p:nvPr>
        </p:nvSpPr>
        <p:spPr>
          <a:xfrm>
            <a:off x="3429000" y="2201958"/>
            <a:ext cx="5086350" cy="3900730"/>
          </a:xfrm>
        </p:spPr>
        <p:txBody>
          <a:bodyPr vert="horz" lIns="91440" tIns="45720" rIns="91440" bIns="45720" rtlCol="0" anchor="t">
            <a:normAutofit/>
          </a:bodyPr>
          <a:lstStyle/>
          <a:p>
            <a:pPr indent="-228600" defTabSz="914400">
              <a:lnSpc>
                <a:spcPct val="90000"/>
              </a:lnSpc>
              <a:buFont typeface="Arial" panose="020B0604020202020204" pitchFamily="34" charset="0"/>
              <a:buChar char="•"/>
            </a:pPr>
            <a:r>
              <a:rPr lang="en-US" sz="2400" dirty="0"/>
              <a:t>Sensors → Edge Devices → Cloud Platform</a:t>
            </a:r>
          </a:p>
          <a:p>
            <a:pPr indent="-228600" defTabSz="914400">
              <a:lnSpc>
                <a:spcPct val="90000"/>
              </a:lnSpc>
              <a:buFont typeface="Arial" panose="020B0604020202020204" pitchFamily="34" charset="0"/>
              <a:buChar char="•"/>
            </a:pPr>
            <a:r>
              <a:rPr lang="en-US" sz="2400" dirty="0"/>
              <a:t>AI models at edge (real-time) and cloud (training)</a:t>
            </a:r>
          </a:p>
          <a:p>
            <a:pPr indent="-228600" defTabSz="914400">
              <a:lnSpc>
                <a:spcPct val="90000"/>
              </a:lnSpc>
              <a:buFont typeface="Arial" panose="020B0604020202020204" pitchFamily="34" charset="0"/>
              <a:buChar char="•"/>
            </a:pPr>
            <a:r>
              <a:rPr lang="en-US" sz="2400" dirty="0"/>
              <a:t>Dashboard for operators and engineers</a:t>
            </a:r>
          </a:p>
          <a:p>
            <a:pPr indent="-228600" defTabSz="914400">
              <a:lnSpc>
                <a:spcPct val="90000"/>
              </a:lnSpc>
              <a:buFont typeface="Arial" panose="020B0604020202020204" pitchFamily="34" charset="0"/>
              <a:buChar char="•"/>
            </a:pPr>
            <a:r>
              <a:rPr lang="en-US" sz="2400" dirty="0"/>
              <a:t>Data flows continuously across all layers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92746DB-8765-35A4-2ED7-FD6B2F57190F}"/>
              </a:ext>
            </a:extLst>
          </p:cNvPr>
          <p:cNvPicPr>
            <a:picLocks noChangeAspect="1"/>
          </p:cNvPicPr>
          <p:nvPr/>
        </p:nvPicPr>
        <p:blipFill>
          <a:blip r:embed="rId2"/>
          <a:stretch>
            <a:fillRect/>
          </a:stretch>
        </p:blipFill>
        <p:spPr>
          <a:xfrm>
            <a:off x="857956" y="643467"/>
            <a:ext cx="7428087" cy="557106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4931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490722" y="329184"/>
            <a:ext cx="5170932" cy="1783080"/>
          </a:xfrm>
        </p:spPr>
        <p:txBody>
          <a:bodyPr anchor="b">
            <a:normAutofit/>
          </a:bodyPr>
          <a:lstStyle/>
          <a:p>
            <a:r>
              <a:rPr lang="en-US" sz="4700"/>
              <a:t>Key Components</a:t>
            </a:r>
          </a:p>
        </p:txBody>
      </p:sp>
      <p:pic>
        <p:nvPicPr>
          <p:cNvPr id="5" name="Picture 4" descr="Volume indicators">
            <a:extLst>
              <a:ext uri="{FF2B5EF4-FFF2-40B4-BE49-F238E27FC236}">
                <a16:creationId xmlns:a16="http://schemas.microsoft.com/office/drawing/2014/main" id="{0D45D59A-245E-8F76-B060-D3661B12023D}"/>
              </a:ext>
            </a:extLst>
          </p:cNvPr>
          <p:cNvPicPr>
            <a:picLocks noChangeAspect="1"/>
          </p:cNvPicPr>
          <p:nvPr/>
        </p:nvPicPr>
        <p:blipFill>
          <a:blip r:embed="rId2"/>
          <a:srcRect l="36963" r="31459" b="-1"/>
          <a:stretch>
            <a:fillRect/>
          </a:stretch>
        </p:blipFill>
        <p:spPr>
          <a:xfrm>
            <a:off x="20" y="1"/>
            <a:ext cx="3039386"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2395728"/>
            <a:ext cx="3182691" cy="18288"/>
          </a:xfrm>
          <a:custGeom>
            <a:avLst/>
            <a:gdLst>
              <a:gd name="csX0" fmla="*/ 0 w 3182691"/>
              <a:gd name="csY0" fmla="*/ 0 h 18288"/>
              <a:gd name="csX1" fmla="*/ 636538 w 3182691"/>
              <a:gd name="csY1" fmla="*/ 0 h 18288"/>
              <a:gd name="csX2" fmla="*/ 1273076 w 3182691"/>
              <a:gd name="csY2" fmla="*/ 0 h 18288"/>
              <a:gd name="csX3" fmla="*/ 1909615 w 3182691"/>
              <a:gd name="csY3" fmla="*/ 0 h 18288"/>
              <a:gd name="csX4" fmla="*/ 2482499 w 3182691"/>
              <a:gd name="csY4" fmla="*/ 0 h 18288"/>
              <a:gd name="csX5" fmla="*/ 3182691 w 3182691"/>
              <a:gd name="csY5" fmla="*/ 0 h 18288"/>
              <a:gd name="csX6" fmla="*/ 3182691 w 3182691"/>
              <a:gd name="csY6" fmla="*/ 18288 h 18288"/>
              <a:gd name="csX7" fmla="*/ 2609807 w 3182691"/>
              <a:gd name="csY7" fmla="*/ 18288 h 18288"/>
              <a:gd name="csX8" fmla="*/ 2068749 w 3182691"/>
              <a:gd name="csY8" fmla="*/ 18288 h 18288"/>
              <a:gd name="csX9" fmla="*/ 1432211 w 3182691"/>
              <a:gd name="csY9" fmla="*/ 18288 h 18288"/>
              <a:gd name="csX10" fmla="*/ 859327 w 3182691"/>
              <a:gd name="csY10" fmla="*/ 18288 h 18288"/>
              <a:gd name="csX11" fmla="*/ 0 w 3182691"/>
              <a:gd name="csY11" fmla="*/ 18288 h 18288"/>
              <a:gd name="csX12" fmla="*/ 0 w 3182691"/>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1" h="18288" fill="none" extrusionOk="0">
                <a:moveTo>
                  <a:pt x="0" y="0"/>
                </a:moveTo>
                <a:cubicBezTo>
                  <a:pt x="253588" y="25878"/>
                  <a:pt x="409323" y="-5359"/>
                  <a:pt x="636538" y="0"/>
                </a:cubicBezTo>
                <a:cubicBezTo>
                  <a:pt x="863753" y="5359"/>
                  <a:pt x="1013406" y="3458"/>
                  <a:pt x="1273076" y="0"/>
                </a:cubicBezTo>
                <a:cubicBezTo>
                  <a:pt x="1532746" y="-3458"/>
                  <a:pt x="1697408" y="-16840"/>
                  <a:pt x="1909615" y="0"/>
                </a:cubicBezTo>
                <a:cubicBezTo>
                  <a:pt x="2121822" y="16840"/>
                  <a:pt x="2213494" y="-18555"/>
                  <a:pt x="2482499" y="0"/>
                </a:cubicBezTo>
                <a:cubicBezTo>
                  <a:pt x="2751504" y="18555"/>
                  <a:pt x="3004132" y="-28750"/>
                  <a:pt x="3182691" y="0"/>
                </a:cubicBezTo>
                <a:cubicBezTo>
                  <a:pt x="3183133" y="4516"/>
                  <a:pt x="3181864" y="12266"/>
                  <a:pt x="3182691" y="18288"/>
                </a:cubicBezTo>
                <a:cubicBezTo>
                  <a:pt x="2947041" y="16687"/>
                  <a:pt x="2875741" y="22937"/>
                  <a:pt x="2609807" y="18288"/>
                </a:cubicBezTo>
                <a:cubicBezTo>
                  <a:pt x="2343873" y="13639"/>
                  <a:pt x="2331203" y="31729"/>
                  <a:pt x="2068749" y="18288"/>
                </a:cubicBezTo>
                <a:cubicBezTo>
                  <a:pt x="1806295" y="4847"/>
                  <a:pt x="1713773" y="47088"/>
                  <a:pt x="1432211" y="18288"/>
                </a:cubicBezTo>
                <a:cubicBezTo>
                  <a:pt x="1150649" y="-10512"/>
                  <a:pt x="982765" y="3747"/>
                  <a:pt x="859327" y="18288"/>
                </a:cubicBezTo>
                <a:cubicBezTo>
                  <a:pt x="735889" y="32829"/>
                  <a:pt x="254183" y="35231"/>
                  <a:pt x="0" y="18288"/>
                </a:cubicBezTo>
                <a:cubicBezTo>
                  <a:pt x="-306" y="11477"/>
                  <a:pt x="485" y="4355"/>
                  <a:pt x="0" y="0"/>
                </a:cubicBezTo>
                <a:close/>
              </a:path>
              <a:path w="3182691" h="18288" stroke="0" extrusionOk="0">
                <a:moveTo>
                  <a:pt x="0" y="0"/>
                </a:moveTo>
                <a:cubicBezTo>
                  <a:pt x="247695" y="-19360"/>
                  <a:pt x="392581" y="-28596"/>
                  <a:pt x="572884" y="0"/>
                </a:cubicBezTo>
                <a:cubicBezTo>
                  <a:pt x="753187" y="28596"/>
                  <a:pt x="922042" y="4121"/>
                  <a:pt x="1113942" y="0"/>
                </a:cubicBezTo>
                <a:cubicBezTo>
                  <a:pt x="1305842" y="-4121"/>
                  <a:pt x="1501806" y="28092"/>
                  <a:pt x="1686826" y="0"/>
                </a:cubicBezTo>
                <a:cubicBezTo>
                  <a:pt x="1871846" y="-28092"/>
                  <a:pt x="2170181" y="-20672"/>
                  <a:pt x="2323364" y="0"/>
                </a:cubicBezTo>
                <a:cubicBezTo>
                  <a:pt x="2476547" y="20672"/>
                  <a:pt x="2919163" y="6097"/>
                  <a:pt x="3182691" y="0"/>
                </a:cubicBezTo>
                <a:cubicBezTo>
                  <a:pt x="3183268" y="4624"/>
                  <a:pt x="3183510" y="11191"/>
                  <a:pt x="3182691" y="18288"/>
                </a:cubicBezTo>
                <a:cubicBezTo>
                  <a:pt x="3026064" y="-10849"/>
                  <a:pt x="2775005" y="23067"/>
                  <a:pt x="2546153" y="18288"/>
                </a:cubicBezTo>
                <a:cubicBezTo>
                  <a:pt x="2317301" y="13509"/>
                  <a:pt x="2164351" y="-9884"/>
                  <a:pt x="1845961" y="18288"/>
                </a:cubicBezTo>
                <a:cubicBezTo>
                  <a:pt x="1527571" y="46460"/>
                  <a:pt x="1455006" y="5824"/>
                  <a:pt x="1304903" y="18288"/>
                </a:cubicBezTo>
                <a:cubicBezTo>
                  <a:pt x="1154800" y="30752"/>
                  <a:pt x="942107" y="-12056"/>
                  <a:pt x="604711" y="18288"/>
                </a:cubicBezTo>
                <a:cubicBezTo>
                  <a:pt x="267315" y="48632"/>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490722" y="2706624"/>
            <a:ext cx="5170932" cy="3483864"/>
          </a:xfrm>
        </p:spPr>
        <p:txBody>
          <a:bodyPr>
            <a:normAutofit/>
          </a:bodyPr>
          <a:lstStyle/>
          <a:p>
            <a:r>
              <a:rPr lang="en-US" sz="1900" dirty="0"/>
              <a:t>Sensors: Temperature, vibration, pressure</a:t>
            </a:r>
          </a:p>
          <a:p>
            <a:r>
              <a:rPr lang="en-US" sz="1900" dirty="0"/>
              <a:t>Edge Devices: Local processing &amp; filtering</a:t>
            </a:r>
          </a:p>
          <a:p>
            <a:r>
              <a:rPr lang="en-US" sz="1900" dirty="0"/>
              <a:t>Cloud: Storage, analytics, retraining</a:t>
            </a:r>
          </a:p>
          <a:p>
            <a:r>
              <a:rPr lang="en-US" sz="1900" dirty="0"/>
              <a:t>Users: Operators via dashboards/mobile apps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4" name="Title 3">
            <a:extLst>
              <a:ext uri="{FF2B5EF4-FFF2-40B4-BE49-F238E27FC236}">
                <a16:creationId xmlns:a16="http://schemas.microsoft.com/office/drawing/2014/main" id="{817BA62E-0ED3-BC57-605D-B36EB41C2B0F}"/>
              </a:ext>
            </a:extLst>
          </p:cNvPr>
          <p:cNvSpPr>
            <a:spLocks noGrp="1"/>
          </p:cNvSpPr>
          <p:nvPr>
            <p:ph type="title"/>
          </p:nvPr>
        </p:nvSpPr>
        <p:spPr>
          <a:xfrm>
            <a:off x="628650" y="401221"/>
            <a:ext cx="7886700" cy="1348065"/>
          </a:xfrm>
        </p:spPr>
        <p:txBody>
          <a:bodyPr>
            <a:normAutofit/>
          </a:bodyPr>
          <a:lstStyle/>
          <a:p>
            <a:r>
              <a:rPr lang="en-US" sz="4700">
                <a:solidFill>
                  <a:srgbClr val="FFFFFF"/>
                </a:solidFill>
              </a:rPr>
              <a:t>Major Vulnerabilities</a:t>
            </a:r>
          </a:p>
        </p:txBody>
      </p:sp>
      <p:sp>
        <p:nvSpPr>
          <p:cNvPr id="5" name="Content Placeholder 4">
            <a:extLst>
              <a:ext uri="{FF2B5EF4-FFF2-40B4-BE49-F238E27FC236}">
                <a16:creationId xmlns:a16="http://schemas.microsoft.com/office/drawing/2014/main" id="{1388EFC6-3992-F725-7962-55375E856B26}"/>
              </a:ext>
            </a:extLst>
          </p:cNvPr>
          <p:cNvSpPr>
            <a:spLocks noGrp="1"/>
          </p:cNvSpPr>
          <p:nvPr>
            <p:ph idx="1"/>
          </p:nvPr>
        </p:nvSpPr>
        <p:spPr>
          <a:xfrm>
            <a:off x="330200" y="2273521"/>
            <a:ext cx="8184007" cy="4491345"/>
          </a:xfrm>
        </p:spPr>
        <p:txBody>
          <a:bodyPr>
            <a:noAutofit/>
          </a:bodyPr>
          <a:lstStyle/>
          <a:p>
            <a:pPr>
              <a:lnSpc>
                <a:spcPct val="90000"/>
              </a:lnSpc>
            </a:pPr>
            <a:r>
              <a:rPr lang="en-US" sz="1300" dirty="0"/>
              <a:t>1. Device Vulnerability (Weak Firmware &amp; Physical Tampering) Many IIoT devices run on outdated or unpatched firmware, which makes them easy targets for attackers. Hackers can exploit known security flaws to gain remote access and take control of the device. If an attacker has physical access, they can also tamper with the hardware, change sensor readings, or install malicious code. This can lead to incorrect data being sent to the system and disrupt normal operations.</a:t>
            </a:r>
          </a:p>
          <a:p>
            <a:pPr>
              <a:lnSpc>
                <a:spcPct val="90000"/>
              </a:lnSpc>
            </a:pPr>
            <a:r>
              <a:rPr lang="en-US" sz="1300" dirty="0"/>
              <a:t>2. Network Vulnerability (Man-in-the-Middle Attack – </a:t>
            </a:r>
            <a:r>
              <a:rPr lang="en-US" sz="1300" dirty="0" err="1"/>
              <a:t>MitM</a:t>
            </a:r>
            <a:r>
              <a:rPr lang="en-US" sz="1300" dirty="0"/>
              <a:t>) Data traveling between sensors, edge devices, and the cloud can be intercepted if it is not properly secured. In a Man-in-the-Middle (</a:t>
            </a:r>
            <a:r>
              <a:rPr lang="en-US" sz="1300" dirty="0" err="1"/>
              <a:t>MitM</a:t>
            </a:r>
            <a:r>
              <a:rPr lang="en-US" sz="1300" dirty="0"/>
              <a:t>) attack, an attacker secretly positions themselves between two systems and captures or alters the data being transmitted. This allows them to inject false information, steal sensitive data, or manipulate system behavior without being detected.</a:t>
            </a:r>
          </a:p>
          <a:p>
            <a:pPr>
              <a:lnSpc>
                <a:spcPct val="90000"/>
              </a:lnSpc>
            </a:pPr>
            <a:r>
              <a:rPr lang="en-US" sz="1300" dirty="0"/>
              <a:t>3. Application Vulnerability (Insecure APIs) APIs are used to connect different parts of the system, but if they are not properly secured, they can become an entry point for attackers. Weak authentication or poor input validation can allow hackers to send malicious requests, access sensitive data, or control system functions. This could result in unauthorized actions, such as changing machine settings or extracting confidential information.</a:t>
            </a:r>
          </a:p>
          <a:p>
            <a:pPr>
              <a:lnSpc>
                <a:spcPct val="90000"/>
              </a:lnSpc>
            </a:pPr>
            <a:r>
              <a:rPr lang="en-US" sz="1300" dirty="0"/>
              <a:t>4. AI Model Vulnerability (Data Poisoning &amp; Manipulation) AI models rely on data to learn and make decisions, so if attackers inject false or misleading data into the system, they can manipulate the model’s behavior. This is known as data poisoning. For example, attackers could alter sensor data so the AI fails to detect equipment issues or generates incorrect predictions. Over time, this can reduce the accuracy and reliability of the entire system.</a:t>
            </a:r>
          </a:p>
          <a:p>
            <a:pPr>
              <a:lnSpc>
                <a:spcPct val="90000"/>
              </a:lnSpc>
            </a:pPr>
            <a:r>
              <a:rPr lang="en-US" sz="1300" dirty="0"/>
              <a:t>5. Human Factor Vulnerability (Phishing &amp; Weak Passwords) Human users are often the weakest part of any system. Attackers can use phishing emails or fake login pages to trick users into giving away their credentials. If users also create weak or reused passwords, it becomes even easier for attackers to gain access. Once inside, they can control the system, steal data, or launch further attacks without being noticed.</a:t>
            </a:r>
          </a:p>
        </p:txBody>
      </p:sp>
    </p:spTree>
    <p:extLst>
      <p:ext uri="{BB962C8B-B14F-4D97-AF65-F5344CB8AC3E}">
        <p14:creationId xmlns:p14="http://schemas.microsoft.com/office/powerpoint/2010/main" val="3160634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73321" y="329184"/>
            <a:ext cx="4688333" cy="1783080"/>
          </a:xfrm>
        </p:spPr>
        <p:txBody>
          <a:bodyPr anchor="b">
            <a:normAutofit/>
          </a:bodyPr>
          <a:lstStyle/>
          <a:p>
            <a:r>
              <a:rPr lang="en-US" sz="4700"/>
              <a:t>Threat Example (Attack Path)</a:t>
            </a:r>
          </a:p>
        </p:txBody>
      </p:sp>
      <p:pic>
        <p:nvPicPr>
          <p:cNvPr id="5" name="Picture 4" descr="Computer script on a screen">
            <a:extLst>
              <a:ext uri="{FF2B5EF4-FFF2-40B4-BE49-F238E27FC236}">
                <a16:creationId xmlns:a16="http://schemas.microsoft.com/office/drawing/2014/main" id="{9E7543F2-B9FF-5DDA-2CD7-A028D8E83A20}"/>
              </a:ext>
            </a:extLst>
          </p:cNvPr>
          <p:cNvPicPr>
            <a:picLocks noChangeAspect="1"/>
          </p:cNvPicPr>
          <p:nvPr/>
        </p:nvPicPr>
        <p:blipFill>
          <a:blip r:embed="rId2"/>
          <a:srcRect l="13115" r="52887" b="-1"/>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973321" y="2706624"/>
            <a:ext cx="4688333" cy="3483864"/>
          </a:xfrm>
        </p:spPr>
        <p:txBody>
          <a:bodyPr>
            <a:noAutofit/>
          </a:bodyPr>
          <a:lstStyle/>
          <a:p>
            <a:r>
              <a:rPr lang="en-US" sz="2400" dirty="0"/>
              <a:t>Step 1: Phishing attack steals credentials</a:t>
            </a:r>
          </a:p>
          <a:p>
            <a:r>
              <a:rPr lang="en-US" sz="2400" dirty="0"/>
              <a:t>Step 2: Attacker accesses system dashboard</a:t>
            </a:r>
          </a:p>
          <a:p>
            <a:r>
              <a:rPr lang="en-US" sz="2400" dirty="0"/>
              <a:t>Step 3: Injects false sensor data</a:t>
            </a:r>
          </a:p>
          <a:p>
            <a:r>
              <a:rPr lang="en-US" sz="2400" dirty="0"/>
              <a:t>Step 4: AI model produces incorrect predictions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7F72BCA-EE24-40BE-9ECA-E10C9BA55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0857" y="-4403"/>
            <a:ext cx="3433753" cy="789095"/>
          </a:xfrm>
        </p:spPr>
        <p:txBody>
          <a:bodyPr anchor="b">
            <a:normAutofit fontScale="90000"/>
          </a:bodyPr>
          <a:lstStyle/>
          <a:p>
            <a:r>
              <a:rPr lang="en-US" sz="3100" dirty="0"/>
              <a:t>Defense Strategy Overview</a:t>
            </a:r>
          </a:p>
        </p:txBody>
      </p:sp>
      <p:pic>
        <p:nvPicPr>
          <p:cNvPr id="5" name="Picture 4" descr="Escalators">
            <a:extLst>
              <a:ext uri="{FF2B5EF4-FFF2-40B4-BE49-F238E27FC236}">
                <a16:creationId xmlns:a16="http://schemas.microsoft.com/office/drawing/2014/main" id="{0FF69E87-D0EC-6EE1-011F-4F28C17B129C}"/>
              </a:ext>
            </a:extLst>
          </p:cNvPr>
          <p:cNvPicPr>
            <a:picLocks noChangeAspect="1"/>
          </p:cNvPicPr>
          <p:nvPr/>
        </p:nvPicPr>
        <p:blipFill>
          <a:blip r:embed="rId2"/>
          <a:srcRect l="23185" r="25038" b="1"/>
          <a:stretch>
            <a:fillRect/>
          </a:stretch>
        </p:blipFill>
        <p:spPr>
          <a:xfrm>
            <a:off x="628649" y="566928"/>
            <a:ext cx="3867912" cy="5285232"/>
          </a:xfrm>
          <a:prstGeom prst="rect">
            <a:avLst/>
          </a:prstGeom>
        </p:spPr>
      </p:pic>
      <p:sp>
        <p:nvSpPr>
          <p:cNvPr id="3" name="Content Placeholder 2"/>
          <p:cNvSpPr>
            <a:spLocks noGrp="1"/>
          </p:cNvSpPr>
          <p:nvPr>
            <p:ph idx="1"/>
          </p:nvPr>
        </p:nvSpPr>
        <p:spPr>
          <a:xfrm>
            <a:off x="4892221" y="602150"/>
            <a:ext cx="3429000" cy="5509984"/>
          </a:xfrm>
        </p:spPr>
        <p:txBody>
          <a:bodyPr>
            <a:noAutofit/>
          </a:bodyPr>
          <a:lstStyle/>
          <a:p>
            <a:pPr>
              <a:lnSpc>
                <a:spcPct val="90000"/>
              </a:lnSpc>
            </a:pPr>
            <a:r>
              <a:rPr lang="en-US" sz="800" b="1" dirty="0"/>
              <a:t>1. Device Vulnerability (Weak Firmware &amp; Physical Tampering)</a:t>
            </a:r>
            <a:endParaRPr lang="en-US" sz="800" dirty="0"/>
          </a:p>
          <a:p>
            <a:pPr>
              <a:lnSpc>
                <a:spcPct val="90000"/>
              </a:lnSpc>
            </a:pPr>
            <a:r>
              <a:rPr lang="en-US" sz="800" dirty="0"/>
              <a:t>Risk: Attackers exploit outdated firmware or physically access devices to alter behavior.</a:t>
            </a:r>
          </a:p>
          <a:p>
            <a:pPr>
              <a:lnSpc>
                <a:spcPct val="90000"/>
              </a:lnSpc>
            </a:pPr>
            <a:r>
              <a:rPr lang="en-US" sz="800" dirty="0"/>
              <a:t>Defense Measures:</a:t>
            </a:r>
          </a:p>
          <a:p>
            <a:pPr>
              <a:lnSpc>
                <a:spcPct val="90000"/>
              </a:lnSpc>
            </a:pPr>
            <a:r>
              <a:rPr lang="en-US" sz="800" dirty="0"/>
              <a:t>Implement secure boot to ensure only trusted firmware runs</a:t>
            </a:r>
          </a:p>
          <a:p>
            <a:pPr>
              <a:lnSpc>
                <a:spcPct val="90000"/>
              </a:lnSpc>
            </a:pPr>
            <a:r>
              <a:rPr lang="en-US" sz="800" dirty="0"/>
              <a:t>Enforce regular firmware updates and patch management</a:t>
            </a:r>
          </a:p>
          <a:p>
            <a:pPr>
              <a:lnSpc>
                <a:spcPct val="90000"/>
              </a:lnSpc>
            </a:pPr>
            <a:r>
              <a:rPr lang="en-US" sz="800" dirty="0"/>
              <a:t>Use device authentication before allowing network access</a:t>
            </a:r>
          </a:p>
          <a:p>
            <a:pPr>
              <a:lnSpc>
                <a:spcPct val="90000"/>
              </a:lnSpc>
            </a:pPr>
            <a:r>
              <a:rPr lang="en-US" sz="800" dirty="0"/>
              <a:t>Apply physical security controls (locked enclosures, surveillance)</a:t>
            </a:r>
          </a:p>
          <a:p>
            <a:pPr>
              <a:lnSpc>
                <a:spcPct val="90000"/>
              </a:lnSpc>
            </a:pPr>
            <a:r>
              <a:rPr lang="en-US" sz="800" dirty="0"/>
              <a:t>Disable unused ports and services on IIoT devices</a:t>
            </a:r>
          </a:p>
          <a:p>
            <a:pPr>
              <a:lnSpc>
                <a:spcPct val="90000"/>
              </a:lnSpc>
            </a:pPr>
            <a:r>
              <a:rPr lang="en-US" sz="800" b="1" dirty="0"/>
              <a:t>2. Network Vulnerability (Man-in-the-Middle Attack – </a:t>
            </a:r>
            <a:r>
              <a:rPr lang="en-US" sz="800" b="1" dirty="0" err="1"/>
              <a:t>MitM</a:t>
            </a:r>
            <a:r>
              <a:rPr lang="en-US" sz="800" b="1" dirty="0"/>
              <a:t>)</a:t>
            </a:r>
            <a:endParaRPr lang="en-US" sz="800" dirty="0"/>
          </a:p>
          <a:p>
            <a:pPr>
              <a:lnSpc>
                <a:spcPct val="90000"/>
              </a:lnSpc>
            </a:pPr>
            <a:r>
              <a:rPr lang="en-US" sz="800" dirty="0"/>
              <a:t>Risk: Data interception or manipulation during transmission.</a:t>
            </a:r>
          </a:p>
          <a:p>
            <a:pPr>
              <a:lnSpc>
                <a:spcPct val="90000"/>
              </a:lnSpc>
            </a:pPr>
            <a:r>
              <a:rPr lang="en-US" sz="800" dirty="0"/>
              <a:t>Defense Measures:</a:t>
            </a:r>
          </a:p>
          <a:p>
            <a:pPr>
              <a:lnSpc>
                <a:spcPct val="90000"/>
              </a:lnSpc>
            </a:pPr>
            <a:r>
              <a:rPr lang="en-US" sz="800" dirty="0"/>
              <a:t>Encrypt all data using TLS and VPN tunnels</a:t>
            </a:r>
          </a:p>
          <a:p>
            <a:pPr>
              <a:lnSpc>
                <a:spcPct val="90000"/>
              </a:lnSpc>
            </a:pPr>
            <a:r>
              <a:rPr lang="en-US" sz="800" dirty="0"/>
              <a:t>Implement network segmentation (separate IT and OT networks)</a:t>
            </a:r>
          </a:p>
          <a:p>
            <a:pPr>
              <a:lnSpc>
                <a:spcPct val="90000"/>
              </a:lnSpc>
            </a:pPr>
            <a:r>
              <a:rPr lang="en-US" sz="800" dirty="0"/>
              <a:t>Deploy firewalls and Intrusion Detection/Prevention Systems (IDS/IPS)</a:t>
            </a:r>
          </a:p>
          <a:p>
            <a:pPr>
              <a:lnSpc>
                <a:spcPct val="90000"/>
              </a:lnSpc>
            </a:pPr>
            <a:r>
              <a:rPr lang="en-US" sz="800" dirty="0"/>
              <a:t>Use certificate-based authentication to verify devices</a:t>
            </a:r>
          </a:p>
          <a:p>
            <a:pPr>
              <a:lnSpc>
                <a:spcPct val="90000"/>
              </a:lnSpc>
            </a:pPr>
            <a:r>
              <a:rPr lang="en-US" sz="800" dirty="0"/>
              <a:t>Monitor traffic for anomalies using network monitoring tools</a:t>
            </a:r>
          </a:p>
          <a:p>
            <a:pPr>
              <a:lnSpc>
                <a:spcPct val="90000"/>
              </a:lnSpc>
            </a:pPr>
            <a:r>
              <a:rPr lang="en-US" sz="800" b="1" dirty="0"/>
              <a:t>3. Application Vulnerability (Insecure APIs)</a:t>
            </a:r>
            <a:endParaRPr lang="en-US" sz="800" dirty="0"/>
          </a:p>
          <a:p>
            <a:pPr>
              <a:lnSpc>
                <a:spcPct val="90000"/>
              </a:lnSpc>
            </a:pPr>
            <a:r>
              <a:rPr lang="en-US" sz="800" dirty="0"/>
              <a:t>Risk: Unauthorized access or malicious API requests.</a:t>
            </a:r>
          </a:p>
          <a:p>
            <a:pPr>
              <a:lnSpc>
                <a:spcPct val="90000"/>
              </a:lnSpc>
            </a:pPr>
            <a:r>
              <a:rPr lang="en-US" sz="800" dirty="0"/>
              <a:t>Defense Measures:</a:t>
            </a:r>
          </a:p>
          <a:p>
            <a:pPr>
              <a:lnSpc>
                <a:spcPct val="90000"/>
              </a:lnSpc>
            </a:pPr>
            <a:r>
              <a:rPr lang="en-US" sz="800" dirty="0"/>
              <a:t>Enforce strong authentication (OAuth 2.0, API keys)</a:t>
            </a:r>
          </a:p>
          <a:p>
            <a:pPr>
              <a:lnSpc>
                <a:spcPct val="90000"/>
              </a:lnSpc>
            </a:pPr>
            <a:r>
              <a:rPr lang="en-US" sz="800" dirty="0"/>
              <a:t>Apply input validation and sanitization</a:t>
            </a:r>
          </a:p>
          <a:p>
            <a:pPr>
              <a:lnSpc>
                <a:spcPct val="90000"/>
              </a:lnSpc>
            </a:pPr>
            <a:r>
              <a:rPr lang="en-US" sz="800" dirty="0"/>
              <a:t>Implement rate limiting to prevent abuse</a:t>
            </a:r>
          </a:p>
          <a:p>
            <a:pPr>
              <a:lnSpc>
                <a:spcPct val="90000"/>
              </a:lnSpc>
            </a:pPr>
            <a:r>
              <a:rPr lang="en-US" sz="800" dirty="0"/>
              <a:t>Use secure API gateways</a:t>
            </a:r>
          </a:p>
          <a:p>
            <a:pPr>
              <a:lnSpc>
                <a:spcPct val="90000"/>
              </a:lnSpc>
            </a:pPr>
            <a:r>
              <a:rPr lang="en-US" sz="800" dirty="0"/>
              <a:t>Conduct regular security testing (e.g., OWASP guidelines)</a:t>
            </a:r>
          </a:p>
          <a:p>
            <a:pPr>
              <a:lnSpc>
                <a:spcPct val="90000"/>
              </a:lnSpc>
            </a:pPr>
            <a:r>
              <a:rPr lang="en-US" sz="800" b="1" dirty="0"/>
              <a:t>4. AI Model Vulnerability (Data Poisoning &amp; Manipulation)</a:t>
            </a:r>
            <a:endParaRPr lang="en-US" sz="800" dirty="0"/>
          </a:p>
          <a:p>
            <a:pPr>
              <a:lnSpc>
                <a:spcPct val="90000"/>
              </a:lnSpc>
            </a:pPr>
            <a:r>
              <a:rPr lang="en-US" sz="800" dirty="0"/>
              <a:t>Risk: Attackers manipulate training data to alter AI behavior.</a:t>
            </a:r>
          </a:p>
          <a:p>
            <a:pPr>
              <a:lnSpc>
                <a:spcPct val="90000"/>
              </a:lnSpc>
            </a:pPr>
            <a:r>
              <a:rPr lang="en-US" sz="800" dirty="0"/>
              <a:t>Defense Measures:</a:t>
            </a:r>
          </a:p>
          <a:p>
            <a:pPr>
              <a:lnSpc>
                <a:spcPct val="90000"/>
              </a:lnSpc>
            </a:pPr>
            <a:r>
              <a:rPr lang="en-US" sz="800" dirty="0"/>
              <a:t>Validate and sanitize all incoming data sources</a:t>
            </a:r>
          </a:p>
          <a:p>
            <a:pPr>
              <a:lnSpc>
                <a:spcPct val="90000"/>
              </a:lnSpc>
            </a:pPr>
            <a:r>
              <a:rPr lang="en-US" sz="800" dirty="0"/>
              <a:t>Use anomaly detection to identify unusual patterns</a:t>
            </a:r>
          </a:p>
          <a:p>
            <a:pPr>
              <a:lnSpc>
                <a:spcPct val="90000"/>
              </a:lnSpc>
            </a:pPr>
            <a:r>
              <a:rPr lang="en-US" sz="800" dirty="0"/>
              <a:t>Secure the machine learning pipeline (access controls, logging)</a:t>
            </a:r>
          </a:p>
          <a:p>
            <a:pPr>
              <a:lnSpc>
                <a:spcPct val="90000"/>
              </a:lnSpc>
            </a:pPr>
            <a:r>
              <a:rPr lang="en-US" sz="800" dirty="0"/>
              <a:t>Regularly audit and retrain models with trusted datasets</a:t>
            </a:r>
          </a:p>
          <a:p>
            <a:pPr>
              <a:lnSpc>
                <a:spcPct val="90000"/>
              </a:lnSpc>
            </a:pPr>
            <a:r>
              <a:rPr lang="en-US" sz="800" dirty="0"/>
              <a:t>Implement model integrity checks and version control</a:t>
            </a:r>
          </a:p>
          <a:p>
            <a:pPr>
              <a:lnSpc>
                <a:spcPct val="90000"/>
              </a:lnSpc>
            </a:pPr>
            <a:r>
              <a:rPr lang="en-US" sz="800" b="1" dirty="0"/>
              <a:t>5. Human Factor Vulnerability (Phishing &amp; Weak Passwords)</a:t>
            </a:r>
            <a:endParaRPr lang="en-US" sz="800" dirty="0"/>
          </a:p>
          <a:p>
            <a:pPr>
              <a:lnSpc>
                <a:spcPct val="90000"/>
              </a:lnSpc>
            </a:pPr>
            <a:r>
              <a:rPr lang="en-US" sz="800" dirty="0"/>
              <a:t>Risk: Users unintentionally grant attackers access.</a:t>
            </a:r>
          </a:p>
          <a:p>
            <a:pPr>
              <a:lnSpc>
                <a:spcPct val="90000"/>
              </a:lnSpc>
            </a:pPr>
            <a:r>
              <a:rPr lang="en-US" sz="800" dirty="0"/>
              <a:t>Defense Measures:</a:t>
            </a:r>
          </a:p>
          <a:p>
            <a:pPr>
              <a:lnSpc>
                <a:spcPct val="90000"/>
              </a:lnSpc>
            </a:pPr>
            <a:r>
              <a:rPr lang="en-US" sz="800" dirty="0"/>
              <a:t>Enforce Multi-Factor Authentication (MFA)</a:t>
            </a:r>
          </a:p>
          <a:p>
            <a:pPr>
              <a:lnSpc>
                <a:spcPct val="90000"/>
              </a:lnSpc>
            </a:pPr>
            <a:r>
              <a:rPr lang="en-US" sz="800" dirty="0"/>
              <a:t>Require strong password policies</a:t>
            </a:r>
          </a:p>
          <a:p>
            <a:pPr>
              <a:lnSpc>
                <a:spcPct val="90000"/>
              </a:lnSpc>
            </a:pPr>
            <a:r>
              <a:rPr lang="en-US" sz="800" dirty="0"/>
              <a:t>Conduct security awareness and phishing training</a:t>
            </a:r>
          </a:p>
          <a:p>
            <a:pPr>
              <a:lnSpc>
                <a:spcPct val="90000"/>
              </a:lnSpc>
            </a:pPr>
            <a:r>
              <a:rPr lang="en-US" sz="800" dirty="0"/>
              <a:t>Implement role-based access control (RBAC)</a:t>
            </a:r>
          </a:p>
          <a:p>
            <a:pPr>
              <a:lnSpc>
                <a:spcPct val="90000"/>
              </a:lnSpc>
            </a:pPr>
            <a:r>
              <a:rPr lang="en-US" sz="800" dirty="0"/>
              <a:t>Monitor user activity for suspicious behavior</a:t>
            </a:r>
          </a:p>
        </p:txBody>
      </p:sp>
      <p:sp>
        <p:nvSpPr>
          <p:cNvPr id="18" name="Rectangle 17">
            <a:extLst>
              <a:ext uri="{FF2B5EF4-FFF2-40B4-BE49-F238E27FC236}">
                <a16:creationId xmlns:a16="http://schemas.microsoft.com/office/drawing/2014/main" id="{6B3C4597-DD46-4BFC-B999-C52879B95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6112341"/>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632B59AC-0160-4F1D-934F-B7D8B6AE4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768846" y="4388904"/>
            <a:ext cx="54864"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US" sz="3500">
                <a:solidFill>
                  <a:schemeClr val="bg1"/>
                </a:solidFill>
              </a:rPr>
              <a:t>AI Security Measures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66661" y="2217343"/>
            <a:ext cx="7410669" cy="3959619"/>
          </a:xfrm>
        </p:spPr>
        <p:txBody>
          <a:bodyPr>
            <a:normAutofit/>
          </a:bodyPr>
          <a:lstStyle/>
          <a:p>
            <a:r>
              <a:rPr lang="en-US" sz="2800" dirty="0"/>
              <a:t>Validate training data sources</a:t>
            </a:r>
          </a:p>
          <a:p>
            <a:r>
              <a:rPr lang="en-US" sz="2800" dirty="0"/>
              <a:t>Detect anomalies in model predictions</a:t>
            </a:r>
          </a:p>
          <a:p>
            <a:r>
              <a:rPr lang="en-US" sz="2800" dirty="0"/>
              <a:t>Secure ML pipelines</a:t>
            </a:r>
          </a:p>
          <a:p>
            <a:r>
              <a:rPr lang="en-US" sz="2800" dirty="0"/>
              <a:t>Regularly retrain and audit models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27377" y="1"/>
            <a:ext cx="7157553" cy="406400"/>
          </a:xfrm>
        </p:spPr>
        <p:txBody>
          <a:bodyPr>
            <a:normAutofit fontScale="90000"/>
          </a:bodyPr>
          <a:lstStyle/>
          <a:p>
            <a:r>
              <a:rPr lang="en-US" dirty="0">
                <a:solidFill>
                  <a:schemeClr val="tx1">
                    <a:lumMod val="85000"/>
                    <a:lumOff val="15000"/>
                  </a:schemeClr>
                </a:solidFill>
              </a:rPr>
              <a:t>Implementation Plan Timeline</a:t>
            </a:r>
          </a:p>
        </p:txBody>
      </p:sp>
      <p:sp>
        <p:nvSpPr>
          <p:cNvPr id="3" name="Content Placeholder 2"/>
          <p:cNvSpPr>
            <a:spLocks noGrp="1"/>
          </p:cNvSpPr>
          <p:nvPr>
            <p:ph idx="1"/>
          </p:nvPr>
        </p:nvSpPr>
        <p:spPr>
          <a:xfrm>
            <a:off x="231852" y="626533"/>
            <a:ext cx="7243709" cy="5935133"/>
          </a:xfrm>
        </p:spPr>
        <p:txBody>
          <a:bodyPr anchor="ctr">
            <a:noAutofit/>
          </a:bodyPr>
          <a:lstStyle/>
          <a:p>
            <a:r>
              <a:rPr lang="en-US" sz="700" b="1" dirty="0"/>
              <a:t>Week 1: Risk Assessment &amp; Planning</a:t>
            </a:r>
            <a:endParaRPr lang="en-US" sz="700" dirty="0"/>
          </a:p>
          <a:p>
            <a:r>
              <a:rPr lang="en-US" sz="700" dirty="0"/>
              <a:t>Roles: Security Analyst, Project Manager</a:t>
            </a:r>
          </a:p>
          <a:p>
            <a:r>
              <a:rPr lang="en-US" sz="700" dirty="0"/>
              <a:t>Tasks:</a:t>
            </a:r>
          </a:p>
          <a:p>
            <a:r>
              <a:rPr lang="en-US" sz="700" dirty="0"/>
              <a:t>Identify vulnerabilities</a:t>
            </a:r>
          </a:p>
          <a:p>
            <a:r>
              <a:rPr lang="en-US" sz="700" dirty="0"/>
              <a:t>Define security requirements</a:t>
            </a:r>
          </a:p>
          <a:p>
            <a:r>
              <a:rPr lang="en-US" sz="700" dirty="0"/>
              <a:t>Develop mitigation strategy</a:t>
            </a:r>
          </a:p>
          <a:p>
            <a:endParaRPr lang="en-US" sz="700" dirty="0"/>
          </a:p>
          <a:p>
            <a:r>
              <a:rPr lang="en-US" sz="700" dirty="0"/>
              <a:t>Tools &amp; Technologies:</a:t>
            </a:r>
          </a:p>
          <a:p>
            <a:r>
              <a:rPr lang="en-US" sz="700" dirty="0"/>
              <a:t>Risk assessment frameworks (NIST, ISO 27001)</a:t>
            </a:r>
          </a:p>
          <a:p>
            <a:r>
              <a:rPr lang="en-US" sz="700" dirty="0"/>
              <a:t>Threat modeling tools (e.g., Microsoft Threat Modeling Tool)</a:t>
            </a:r>
          </a:p>
          <a:p>
            <a:r>
              <a:rPr lang="en-US" sz="700" dirty="0"/>
              <a:t>Documentation tools (Confluence, Google Docs)</a:t>
            </a:r>
          </a:p>
          <a:p>
            <a:r>
              <a:rPr lang="en-US" sz="700" b="1" dirty="0"/>
              <a:t>Week 2: Network Security &amp; Encryption</a:t>
            </a:r>
            <a:endParaRPr lang="en-US" sz="700" dirty="0"/>
          </a:p>
          <a:p>
            <a:r>
              <a:rPr lang="en-US" sz="700" dirty="0"/>
              <a:t>Roles: Network Engineer, Cybersecurity Engineer</a:t>
            </a:r>
          </a:p>
          <a:p>
            <a:r>
              <a:rPr lang="en-US" sz="700" dirty="0"/>
              <a:t>Tasks:</a:t>
            </a:r>
          </a:p>
          <a:p>
            <a:r>
              <a:rPr lang="en-US" sz="700" dirty="0"/>
              <a:t>Configure firewalls</a:t>
            </a:r>
          </a:p>
          <a:p>
            <a:r>
              <a:rPr lang="en-US" sz="700" dirty="0"/>
              <a:t>Implement encryption</a:t>
            </a:r>
          </a:p>
          <a:p>
            <a:r>
              <a:rPr lang="en-US" sz="700" dirty="0"/>
              <a:t>Segment network</a:t>
            </a:r>
            <a:br>
              <a:rPr lang="en-US" sz="700" dirty="0"/>
            </a:br>
            <a:endParaRPr lang="en-US" sz="700" dirty="0"/>
          </a:p>
          <a:p>
            <a:r>
              <a:rPr lang="en-US" sz="700" dirty="0"/>
              <a:t>Tools &amp; Technologies:</a:t>
            </a:r>
          </a:p>
          <a:p>
            <a:r>
              <a:rPr lang="en-US" sz="700" dirty="0"/>
              <a:t>Firewalls (Cisco ASA, pfSense)</a:t>
            </a:r>
          </a:p>
          <a:p>
            <a:r>
              <a:rPr lang="en-US" sz="700" dirty="0"/>
              <a:t>Encryption protocols (TLS, VPN – OpenVPN, IPsec)</a:t>
            </a:r>
          </a:p>
          <a:p>
            <a:r>
              <a:rPr lang="en-US" sz="700" dirty="0"/>
              <a:t>Network monitoring tools (Wireshark, </a:t>
            </a:r>
            <a:r>
              <a:rPr lang="en-US" sz="700" dirty="0" err="1"/>
              <a:t>Zeek</a:t>
            </a:r>
            <a:r>
              <a:rPr lang="en-US" sz="700" dirty="0"/>
              <a:t>)</a:t>
            </a:r>
          </a:p>
          <a:p>
            <a:r>
              <a:rPr lang="en-US" sz="700" dirty="0"/>
              <a:t>IDS/IPS systems (Snort, </a:t>
            </a:r>
            <a:r>
              <a:rPr lang="en-US" sz="700" dirty="0" err="1"/>
              <a:t>Suricata</a:t>
            </a:r>
            <a:r>
              <a:rPr lang="en-US" sz="700" dirty="0"/>
              <a:t>)</a:t>
            </a:r>
          </a:p>
          <a:p>
            <a:r>
              <a:rPr lang="en-US" sz="700" b="1" dirty="0"/>
              <a:t>Week 3: Access Control &amp; </a:t>
            </a:r>
            <a:r>
              <a:rPr lang="en-US" sz="700" b="1"/>
              <a:t>AI Protections</a:t>
            </a:r>
            <a:endParaRPr lang="en-US" sz="700" dirty="0"/>
          </a:p>
          <a:p>
            <a:r>
              <a:rPr lang="en-US" sz="700" dirty="0"/>
              <a:t>Roles: IAM Specialist, AI Engineer</a:t>
            </a:r>
          </a:p>
          <a:p>
            <a:r>
              <a:rPr lang="en-US" sz="700" dirty="0"/>
              <a:t>Tasks:</a:t>
            </a:r>
          </a:p>
          <a:p>
            <a:r>
              <a:rPr lang="en-US" sz="700" dirty="0"/>
              <a:t>Implement RBAC</a:t>
            </a:r>
          </a:p>
          <a:p>
            <a:r>
              <a:rPr lang="en-US" sz="700" dirty="0"/>
              <a:t>Secure AI models</a:t>
            </a:r>
          </a:p>
          <a:p>
            <a:r>
              <a:rPr lang="en-US" sz="700" dirty="0"/>
              <a:t>Apply authentication policies</a:t>
            </a:r>
          </a:p>
          <a:p>
            <a:endParaRPr lang="en-US" sz="700" dirty="0"/>
          </a:p>
          <a:p>
            <a:r>
              <a:rPr lang="en-US" sz="700" dirty="0"/>
              <a:t>Tools &amp; Technologies:</a:t>
            </a:r>
          </a:p>
          <a:p>
            <a:r>
              <a:rPr lang="en-US" sz="700" dirty="0"/>
              <a:t>Identity &amp; Access Management (</a:t>
            </a:r>
            <a:r>
              <a:rPr lang="en-US" sz="700" dirty="0" err="1"/>
              <a:t>Okta</a:t>
            </a:r>
            <a:r>
              <a:rPr lang="en-US" sz="700" dirty="0"/>
              <a:t>, Azure AD)</a:t>
            </a:r>
          </a:p>
          <a:p>
            <a:r>
              <a:rPr lang="en-US" sz="700" dirty="0"/>
              <a:t>MFA tools (Google Authenticator, Duo)</a:t>
            </a:r>
          </a:p>
          <a:p>
            <a:r>
              <a:rPr lang="en-US" sz="700" dirty="0"/>
              <a:t>API security (OAuth 2.0, API Gateway)</a:t>
            </a:r>
          </a:p>
          <a:p>
            <a:r>
              <a:rPr lang="en-US" sz="700" dirty="0"/>
              <a:t>ML security tools (TensorFlow Model Analysis, IBM Adversarial Robustness Toolbox)</a:t>
            </a:r>
          </a:p>
          <a:p>
            <a:r>
              <a:rPr lang="en-US" sz="700" b="1" dirty="0"/>
              <a:t>Week 4: Monitoring &amp; Penetration Testing</a:t>
            </a:r>
            <a:endParaRPr lang="en-US" sz="700" dirty="0"/>
          </a:p>
          <a:p>
            <a:r>
              <a:rPr lang="en-US" sz="700" dirty="0"/>
              <a:t>Roles: SOC Analyst, Ethical Hacker</a:t>
            </a:r>
          </a:p>
          <a:p>
            <a:r>
              <a:rPr lang="en-US" sz="700" dirty="0"/>
              <a:t>Tasks:</a:t>
            </a:r>
          </a:p>
          <a:p>
            <a:r>
              <a:rPr lang="en-US" sz="700" dirty="0"/>
              <a:t>Deploy monitoring systems</a:t>
            </a:r>
          </a:p>
          <a:p>
            <a:r>
              <a:rPr lang="en-US" sz="700" dirty="0"/>
              <a:t>Conduct penetration testing</a:t>
            </a:r>
          </a:p>
          <a:p>
            <a:r>
              <a:rPr lang="en-US" sz="700" dirty="0"/>
              <a:t>Analyze and improve defenses</a:t>
            </a:r>
          </a:p>
          <a:p>
            <a:endParaRPr lang="en-US" sz="700" dirty="0"/>
          </a:p>
          <a:p>
            <a:r>
              <a:rPr lang="en-US" sz="700" dirty="0"/>
              <a:t>Tools &amp; Technologies:</a:t>
            </a:r>
          </a:p>
          <a:p>
            <a:r>
              <a:rPr lang="en-US" sz="700" dirty="0"/>
              <a:t>SIEM platforms (</a:t>
            </a:r>
            <a:r>
              <a:rPr lang="en-US" sz="700" dirty="0" err="1"/>
              <a:t>Splunk</a:t>
            </a:r>
            <a:r>
              <a:rPr lang="en-US" sz="700" dirty="0"/>
              <a:t>, IBM </a:t>
            </a:r>
            <a:r>
              <a:rPr lang="en-US" sz="700" dirty="0" err="1"/>
              <a:t>QRadar</a:t>
            </a:r>
            <a:r>
              <a:rPr lang="en-US" sz="700" dirty="0"/>
              <a:t>)</a:t>
            </a:r>
          </a:p>
          <a:p>
            <a:r>
              <a:rPr lang="en-US" sz="700" dirty="0"/>
              <a:t>Pen testing tools (</a:t>
            </a:r>
            <a:r>
              <a:rPr lang="en-US" sz="700" dirty="0" err="1"/>
              <a:t>Metasploit</a:t>
            </a:r>
            <a:r>
              <a:rPr lang="en-US" sz="700" dirty="0"/>
              <a:t>, </a:t>
            </a:r>
            <a:r>
              <a:rPr lang="en-US" sz="700" dirty="0" err="1"/>
              <a:t>Nmap</a:t>
            </a:r>
            <a:r>
              <a:rPr lang="en-US" sz="700" dirty="0"/>
              <a:t>, Burp Suite)</a:t>
            </a:r>
          </a:p>
          <a:p>
            <a:r>
              <a:rPr lang="en-US" sz="700" dirty="0"/>
              <a:t>Vulnerability scanners (Nessus, OpenVAS)</a:t>
            </a:r>
          </a:p>
          <a:p>
            <a:r>
              <a:rPr lang="en-US" sz="700" dirty="0"/>
              <a:t>Log monitoring tools (ELK Stack)</a:t>
            </a:r>
          </a:p>
          <a:p>
            <a:pPr>
              <a:lnSpc>
                <a:spcPct val="90000"/>
              </a:lnSpc>
            </a:pPr>
            <a:endParaRPr lang="en-US" sz="700" b="0" i="0" dirty="0">
              <a:solidFill>
                <a:srgbClr val="000000"/>
              </a:solidFill>
              <a:effectLst/>
              <a:latin typeface="Lato-Regular"/>
            </a:endParaRPr>
          </a:p>
        </p:txBody>
      </p:sp>
      <p:sp>
        <p:nvSpPr>
          <p:cNvPr id="21" name="Freeform: Shape 20">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4168866" cy="1325563"/>
          </a:xfrm>
        </p:spPr>
        <p:txBody>
          <a:bodyPr>
            <a:normAutofit/>
          </a:bodyPr>
          <a:lstStyle/>
          <a:p>
            <a:pPr>
              <a:lnSpc>
                <a:spcPct val="90000"/>
              </a:lnSpc>
            </a:pPr>
            <a:r>
              <a:t>Penetration Testing</a:t>
            </a:r>
            <a:endParaRPr lang="en-US"/>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628650" y="1825625"/>
            <a:ext cx="4168866" cy="4351338"/>
          </a:xfrm>
        </p:spPr>
        <p:txBody>
          <a:bodyPr>
            <a:normAutofit/>
          </a:bodyPr>
          <a:lstStyle/>
          <a:p>
            <a:r>
              <a:t>Simulate phishing attack</a:t>
            </a:r>
          </a:p>
          <a:p>
            <a:r>
              <a:t>Test Man-in-the-Middle vulnerability</a:t>
            </a:r>
          </a:p>
          <a:p>
            <a:r>
              <a:t>Attempt AI model poisoning</a:t>
            </a:r>
          </a:p>
          <a:p>
            <a:r>
              <a:t>Evaluate system defenses under attack</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2624479"/>
            <a:ext cx="609320"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385863" y="1516981"/>
            <a:ext cx="2387600" cy="17907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0"/>
            <a:ext cx="1736438"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9347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4162" y="4112081"/>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4565205" y="4145122"/>
            <a:ext cx="3062574"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982" y="4962670"/>
            <a:ext cx="1982514"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1119031"/>
            <a:ext cx="3464954"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8305" y="1396686"/>
            <a:ext cx="2430380" cy="4064628"/>
          </a:xfrm>
        </p:spPr>
        <p:txBody>
          <a:bodyPr>
            <a:normAutofit/>
          </a:bodyPr>
          <a:lstStyle/>
          <a:p>
            <a:r>
              <a:rPr lang="en-US" sz="2800">
                <a:solidFill>
                  <a:srgbClr val="FFFFFF"/>
                </a:solidFill>
              </a:rPr>
              <a:t>Results &amp; Improvements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941148"/>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4780992"/>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027614" y="1526033"/>
            <a:ext cx="4152298" cy="3935281"/>
          </a:xfrm>
        </p:spPr>
        <p:txBody>
          <a:bodyPr>
            <a:normAutofit/>
          </a:bodyPr>
          <a:lstStyle/>
          <a:p>
            <a:pPr>
              <a:lnSpc>
                <a:spcPct val="90000"/>
              </a:lnSpc>
            </a:pPr>
            <a:r>
              <a:rPr lang="en-US" sz="2500"/>
              <a:t>Phishing revealed need for user training</a:t>
            </a:r>
          </a:p>
          <a:p>
            <a:pPr>
              <a:lnSpc>
                <a:spcPct val="90000"/>
              </a:lnSpc>
            </a:pPr>
            <a:r>
              <a:rPr lang="en-US" sz="2500" err="1"/>
              <a:t>MitM</a:t>
            </a:r>
            <a:r>
              <a:rPr lang="en-US" sz="2500"/>
              <a:t>(Man in the Middle) showed importance of encryption</a:t>
            </a:r>
          </a:p>
          <a:p>
            <a:pPr>
              <a:lnSpc>
                <a:spcPct val="90000"/>
              </a:lnSpc>
            </a:pPr>
            <a:r>
              <a:rPr lang="en-US" sz="2500"/>
              <a:t>AI attack required better data validation</a:t>
            </a:r>
          </a:p>
          <a:p>
            <a:pPr>
              <a:lnSpc>
                <a:spcPct val="90000"/>
              </a:lnSpc>
            </a:pPr>
            <a:r>
              <a:rPr lang="en-US" sz="2500"/>
              <a:t>Continuous testing is critical for maximizing effectiveness and efficiency.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Key Takeaways</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1700"/>
              <a:t>Cybersecurity must cover AI + IIoT layers</a:t>
            </a:r>
          </a:p>
          <a:p>
            <a:r>
              <a:rPr lang="en-US" sz="1700"/>
              <a:t>Data integrity is as important as network security</a:t>
            </a:r>
          </a:p>
          <a:p>
            <a:r>
              <a:rPr lang="en-US" sz="1700"/>
              <a:t>Humans are often the weakest link</a:t>
            </a:r>
          </a:p>
          <a:p>
            <a:r>
              <a:rPr lang="en-US" sz="1700"/>
              <a:t>Defense must be proactive, not reactive</a:t>
            </a:r>
          </a:p>
        </p:txBody>
      </p:sp>
      <p:pic>
        <p:nvPicPr>
          <p:cNvPr id="5" name="Picture 4" descr="Transparent padlock">
            <a:extLst>
              <a:ext uri="{FF2B5EF4-FFF2-40B4-BE49-F238E27FC236}">
                <a16:creationId xmlns:a16="http://schemas.microsoft.com/office/drawing/2014/main" id="{92E49FDD-0F10-3783-7414-A940C1EE55D7}"/>
              </a:ext>
            </a:extLst>
          </p:cNvPr>
          <p:cNvPicPr>
            <a:picLocks noChangeAspect="1"/>
          </p:cNvPicPr>
          <p:nvPr/>
        </p:nvPicPr>
        <p:blipFill>
          <a:blip r:embed="rId2"/>
          <a:srcRect l="17999" r="4385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C7ABE9-DF72-31C9-5C4F-204B8DA878D7}"/>
              </a:ext>
            </a:extLst>
          </p:cNvPr>
          <p:cNvSpPr>
            <a:spLocks noGrp="1"/>
          </p:cNvSpPr>
          <p:nvPr>
            <p:ph type="title"/>
          </p:nvPr>
        </p:nvSpPr>
        <p:spPr>
          <a:xfrm>
            <a:off x="1028699" y="294538"/>
            <a:ext cx="7421963" cy="1033669"/>
          </a:xfrm>
        </p:spPr>
        <p:txBody>
          <a:bodyPr>
            <a:normAutofit/>
          </a:bodyPr>
          <a:lstStyle/>
          <a:p>
            <a:r>
              <a:rPr lang="en-US" sz="3500">
                <a:solidFill>
                  <a:srgbClr val="FFFFFF"/>
                </a:solidFill>
              </a:rPr>
              <a:t>Reflections</a:t>
            </a:r>
          </a:p>
        </p:txBody>
      </p:sp>
      <p:sp>
        <p:nvSpPr>
          <p:cNvPr id="3" name="Content Placeholder 2">
            <a:extLst>
              <a:ext uri="{FF2B5EF4-FFF2-40B4-BE49-F238E27FC236}">
                <a16:creationId xmlns:a16="http://schemas.microsoft.com/office/drawing/2014/main" id="{A39EF326-8694-723F-464D-823388427105}"/>
              </a:ext>
            </a:extLst>
          </p:cNvPr>
          <p:cNvSpPr>
            <a:spLocks noGrp="1"/>
          </p:cNvSpPr>
          <p:nvPr>
            <p:ph idx="1"/>
          </p:nvPr>
        </p:nvSpPr>
        <p:spPr>
          <a:xfrm>
            <a:off x="1028699" y="2318197"/>
            <a:ext cx="7293023" cy="3683358"/>
          </a:xfrm>
        </p:spPr>
        <p:txBody>
          <a:bodyPr anchor="ctr">
            <a:normAutofit/>
          </a:bodyPr>
          <a:lstStyle/>
          <a:p>
            <a:r>
              <a:rPr lang="en-US" sz="2000" dirty="0"/>
              <a:t>This project focused on a smart factory that uses sensors, edge devices, and AI to monitor machines and predict failures. Several vulnerabilities were found, including weak device security, unencrypted networks, insecure APIs, AI model attacks, and human errors like phishing. To fix these issues, a strong defense strategy was created using encryption, multi-factor authentication, network segmentation, and AI data protection. Penetration testing showed that phishing, data interception, and model poisoning are real risks. The results highlighted the need for better user training, stronger encryption, and continuous monitoring to keep the system secure and reliable.</a:t>
            </a:r>
          </a:p>
        </p:txBody>
      </p:sp>
    </p:spTree>
    <p:extLst>
      <p:ext uri="{BB962C8B-B14F-4D97-AF65-F5344CB8AC3E}">
        <p14:creationId xmlns:p14="http://schemas.microsoft.com/office/powerpoint/2010/main" val="179779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59983" y="741391"/>
            <a:ext cx="2526926" cy="1616203"/>
          </a:xfrm>
        </p:spPr>
        <p:txBody>
          <a:bodyPr anchor="b">
            <a:normAutofit/>
          </a:bodyPr>
          <a:lstStyle/>
          <a:p>
            <a:r>
              <a:rPr lang="en-US" sz="2800"/>
              <a:t>Conclusion</a:t>
            </a:r>
          </a:p>
        </p:txBody>
      </p:sp>
      <p:pic>
        <p:nvPicPr>
          <p:cNvPr id="5" name="Picture 4" descr="3D Hologram from iPad">
            <a:extLst>
              <a:ext uri="{FF2B5EF4-FFF2-40B4-BE49-F238E27FC236}">
                <a16:creationId xmlns:a16="http://schemas.microsoft.com/office/drawing/2014/main" id="{F7FE2713-D5DC-301B-037F-F2C00B703B5B}"/>
              </a:ext>
            </a:extLst>
          </p:cNvPr>
          <p:cNvPicPr>
            <a:picLocks noChangeAspect="1"/>
          </p:cNvPicPr>
          <p:nvPr/>
        </p:nvPicPr>
        <p:blipFill>
          <a:blip r:embed="rId2"/>
          <a:srcRect l="14373" r="31678" b="-1"/>
          <a:stretch>
            <a:fillRect/>
          </a:stretch>
        </p:blipFill>
        <p:spPr>
          <a:xfrm>
            <a:off x="20" y="10"/>
            <a:ext cx="5542677" cy="6857990"/>
          </a:xfrm>
          <a:prstGeom prst="rect">
            <a:avLst/>
          </a:prstGeom>
        </p:spPr>
      </p:pic>
      <p:sp>
        <p:nvSpPr>
          <p:cNvPr id="9" name="Rectangle 8">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55894" y="3271199"/>
            <a:ext cx="1630908" cy="5542697"/>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2296081" y="2296080"/>
            <a:ext cx="6854280" cy="226211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46242" y="4425055"/>
            <a:ext cx="2196454"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Content Placeholder 2"/>
          <p:cNvSpPr>
            <a:spLocks noGrp="1"/>
          </p:cNvSpPr>
          <p:nvPr>
            <p:ph idx="1"/>
          </p:nvPr>
        </p:nvSpPr>
        <p:spPr>
          <a:xfrm>
            <a:off x="5842000" y="2446867"/>
            <a:ext cx="2604449" cy="4216400"/>
          </a:xfrm>
        </p:spPr>
        <p:txBody>
          <a:bodyPr anchor="t">
            <a:noAutofit/>
          </a:bodyPr>
          <a:lstStyle/>
          <a:p>
            <a:r>
              <a:rPr lang="en-US" sz="2000" dirty="0"/>
              <a:t>AI-integrated IIoT systems increase efficiency</a:t>
            </a:r>
          </a:p>
          <a:p>
            <a:r>
              <a:rPr lang="en-US" sz="2000" dirty="0"/>
              <a:t>But introduce new cybersecurity risks</a:t>
            </a:r>
          </a:p>
          <a:p>
            <a:r>
              <a:rPr lang="en-US" sz="2000" dirty="0"/>
              <a:t>Strong defense strategies reduce vulnerabilities</a:t>
            </a:r>
          </a:p>
          <a:p>
            <a:r>
              <a:rPr lang="en-US" sz="2000" dirty="0"/>
              <a:t>Ongoing monitoring and updates are essential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Cybersecurity Plan for AI-Integrated IIoT System</vt:lpstr>
      <vt:lpstr>Smart Factory Overview</vt:lpstr>
      <vt:lpstr>System Architecture</vt:lpstr>
      <vt:lpstr>PowerPoint Presentation</vt:lpstr>
      <vt:lpstr>Key Components</vt:lpstr>
      <vt:lpstr>Major Vulnerabilities</vt:lpstr>
      <vt:lpstr>Threat Example (Attack Path)</vt:lpstr>
      <vt:lpstr>Defense Strategy Overview</vt:lpstr>
      <vt:lpstr>AI Security Measures</vt:lpstr>
      <vt:lpstr>Implementation Plan Timeline</vt:lpstr>
      <vt:lpstr>Penetration Testing</vt:lpstr>
      <vt:lpstr>Results &amp; Improvements</vt:lpstr>
      <vt:lpstr>Key Takeaways</vt:lpstr>
      <vt:lpstr>Reflections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Plan for AI-Integrated IIoT System</dc:title>
  <dc:subject/>
  <dc:creator/>
  <cp:keywords/>
  <dc:description>generated using python-pptx</dc:description>
  <cp:lastModifiedBy>carlos.granillo-W212655608</cp:lastModifiedBy>
  <cp:revision>8</cp:revision>
  <dcterms:created xsi:type="dcterms:W3CDTF">2013-01-27T09:14:16Z</dcterms:created>
  <dcterms:modified xsi:type="dcterms:W3CDTF">2026-04-05T02:42:05Z</dcterms:modified>
  <cp:category/>
</cp:coreProperties>
</file>